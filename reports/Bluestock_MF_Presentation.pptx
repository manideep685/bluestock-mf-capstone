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AUM Growth Trend (₹ Lakh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AUM (₹ L Cr)</c:v>
                </c:pt>
              </c:strCache>
            </c:strRef>
          </c:tx>
          <c:spPr>
            <a:ln w="31750" cap="flat">
              <a:solidFill>
                <a:srgbClr val="00308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3087"/>
              </a:solidFill>
              <a:ln w="9525" cap="flat">
                <a:solidFill>
                  <a:srgbClr val="00308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 22</c:v>
                </c:pt>
                <c:pt idx="1">
                  <c:v>Jul 22</c:v>
                </c:pt>
                <c:pt idx="2">
                  <c:v>Jan 23</c:v>
                </c:pt>
                <c:pt idx="3">
                  <c:v>Jul 23</c:v>
                </c:pt>
                <c:pt idx="4">
                  <c:v>Jan 24</c:v>
                </c:pt>
                <c:pt idx="5">
                  <c:v>Jul 24</c:v>
                </c:pt>
                <c:pt idx="6">
                  <c:v>Jan 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30.1</c:v>
                </c:pt>
                <c:pt idx="1">
                  <c:v>31.8</c:v>
                </c:pt>
                <c:pt idx="2">
                  <c:v>33.5</c:v>
                </c:pt>
                <c:pt idx="3">
                  <c:v>36.700000000000003</c:v>
                </c:pt>
                <c:pt idx="4">
                  <c:v>39.200000000000003</c:v>
                </c:pt>
                <c:pt idx="5">
                  <c:v>43.1</c:v>
                </c:pt>
                <c:pt idx="6">
                  <c:v>43.5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C81-4632-9928-8E0993B2F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Investors by City Tier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EA-4FDB-9BD1-DE4913DA21E3}"/>
              </c:ext>
            </c:extLst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EA-4FDB-9BD1-DE4913DA21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T30</c:v>
                </c:pt>
                <c:pt idx="1">
                  <c:v>B30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EA-4FDB-9BD1-DE4913DA21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Transaction Type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0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39-406A-A26E-091242348630}"/>
              </c:ext>
            </c:extLst>
          </c:dPt>
          <c:dPt>
            <c:idx val="1"/>
            <c:bubble3D val="0"/>
            <c:spPr>
              <a:solidFill>
                <a:srgbClr val="0055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39-406A-A26E-091242348630}"/>
              </c:ext>
            </c:extLst>
          </c:dPt>
          <c:dPt>
            <c:idx val="2"/>
            <c:bubble3D val="0"/>
            <c:spPr>
              <a:solidFill>
                <a:srgbClr val="0073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39-406A-A26E-09124234863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39-406A-A26E-09124234863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39-406A-A26E-09124234863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39-406A-A26E-09124234863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22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39-406A-A26E-091242348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VaR 95% by Category (Daily 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95%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Small Cap</c:v>
                </c:pt>
                <c:pt idx="1">
                  <c:v>Sectoral</c:v>
                </c:pt>
                <c:pt idx="2">
                  <c:v>Mid Cap</c:v>
                </c:pt>
                <c:pt idx="3">
                  <c:v>Flexi Cap</c:v>
                </c:pt>
                <c:pt idx="4">
                  <c:v>Large Cap</c:v>
                </c:pt>
                <c:pt idx="5">
                  <c:v>Gilt</c:v>
                </c:pt>
                <c:pt idx="6">
                  <c:v>Liquid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-2.8</c:v>
                </c:pt>
                <c:pt idx="1">
                  <c:v>-2.5</c:v>
                </c:pt>
                <c:pt idx="2">
                  <c:v>-2.1</c:v>
                </c:pt>
                <c:pt idx="3">
                  <c:v>-1.8</c:v>
                </c:pt>
                <c:pt idx="4">
                  <c:v>-1.5</c:v>
                </c:pt>
                <c:pt idx="5">
                  <c:v>-0.9</c:v>
                </c:pt>
                <c:pt idx="6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C2-4FCE-BCBA-30759B1351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Funds by Alpha (Annualised)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 (Annualised)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Fund A</c:v>
                </c:pt>
                <c:pt idx="1">
                  <c:v>Fund B</c:v>
                </c:pt>
                <c:pt idx="2">
                  <c:v>Fund C</c:v>
                </c:pt>
                <c:pt idx="3">
                  <c:v>Fund D</c:v>
                </c:pt>
                <c:pt idx="4">
                  <c:v>Fund E</c:v>
                </c:pt>
                <c:pt idx="5">
                  <c:v>Fund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0.28000000000000003</c:v>
                </c:pt>
                <c:pt idx="2">
                  <c:v>0.25</c:v>
                </c:pt>
                <c:pt idx="3">
                  <c:v>0.21</c:v>
                </c:pt>
                <c:pt idx="4">
                  <c:v>0.18</c:v>
                </c:pt>
                <c:pt idx="5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2-4B08-A53C-4F88636833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Folio Growth (Crore)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Folios (Crore)</c:v>
                </c:pt>
              </c:strCache>
            </c:strRef>
          </c:tx>
          <c:spPr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 22</c:v>
                </c:pt>
                <c:pt idx="1">
                  <c:v>Jul 22</c:v>
                </c:pt>
                <c:pt idx="2">
                  <c:v>Jan 23</c:v>
                </c:pt>
                <c:pt idx="3">
                  <c:v>Jul 23</c:v>
                </c:pt>
                <c:pt idx="4">
                  <c:v>Jan 24</c:v>
                </c:pt>
                <c:pt idx="5">
                  <c:v>Jul 24</c:v>
                </c:pt>
                <c:pt idx="6">
                  <c:v>Dec 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13.26</c:v>
                </c:pt>
                <c:pt idx="1">
                  <c:v>13.85</c:v>
                </c:pt>
                <c:pt idx="2">
                  <c:v>14.81</c:v>
                </c:pt>
                <c:pt idx="3">
                  <c:v>16.28</c:v>
                </c:pt>
                <c:pt idx="4">
                  <c:v>17.78</c:v>
                </c:pt>
                <c:pt idx="5">
                  <c:v>19.98</c:v>
                </c:pt>
                <c:pt idx="6">
                  <c:v>26.12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34-4200-911C-28FD8B67C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33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55B3">
              <a:alpha val="60000"/>
            </a:srgbClr>
          </a:solidFill>
          <a:ln w="12700">
            <a:solidFill>
              <a:srgbClr val="005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— Capstone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| Cohort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Manideep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github.com/Manideep685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easy access to fund 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AMFI data is scattered across 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risk vs return metrics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40+ schemes at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MF analytics platform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from AMFI + mfapi.in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for structured queries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(4 pages)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performance and investor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real scheme codes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508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 daily NAV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/ BSE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50, Nifty 100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51760"/>
          <a:ext cx="8412480" cy="2084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metadata — AMC, category,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 – 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/ Redemption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50, Nifty 100, BSE SmallCap 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Sharpe, Alpha, Beta, VaR, Max Drawdown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+ API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1600200"/>
            <a:ext cx="228600" cy="0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097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28600" cy="0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097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600200"/>
            <a:ext cx="228600" cy="0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BFDB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097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1600200"/>
            <a:ext cx="228600" cy="0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93C5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097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5 Core Tables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200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scheme_code, name,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AMC, category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8346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200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scheme_code, date,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nav_value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28346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200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amc_name, quarter,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aum_crores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28346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200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inflow_cr,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active_accounts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8346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fact_txn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3200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investor_id, amount,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txn_type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3.10 · Pandas · NumPy · SQLite · SQLAlchemy · Power BI · Git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Industry Overview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6072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132320" y="11430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L Cr)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60720" y="20574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21031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0" y="2194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Cr)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31089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31546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132320" y="3246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(Crore)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160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32320" y="4297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₹31,002 Cr milestone in Dec 2025 — highest ever recorded by AMFI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Demographics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846320" y="100584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374904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investors are under 30 years — strong young investor base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65760" y="406908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account for 56% of transactions, B30 cities growing 19% YoY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438912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dominates at 68% of all transactions by volume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470916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and Karnataka are top 2 states by investment value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Risk Analysis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0" y="10515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40880" y="10972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fund avg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847088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892808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40880" y="193852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worst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688336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734056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40880" y="277977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Nifty 50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529584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57530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40880" y="36210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Alpha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Fund Comparison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486400" y="1005840"/>
          <a:ext cx="3291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E8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grew 97% from 13.26 Cr to 26.12 Cr (Jan 2022 – Dec 2025). Mid cap and small cap funds delivered highest 3yr alpha. Liquid and gilt funds show lowest VaR confirming their defensive nature.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Pages 1 &amp;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/>
              <a:t>Screenshots from bluestock_mf_dashboard.pbix — built using Power BI Desktop | Data source: AMFI India &amp; mfapi.in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8AEF5F-F360-2AE5-A26C-41B6116E9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554480"/>
            <a:ext cx="3376248" cy="2194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2590E3-F87A-8B94-ED98-B326D44DA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1554480"/>
            <a:ext cx="3538025" cy="2286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Pages 3 &amp;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/>
              <a:t>Dashboard built as part of </a:t>
            </a:r>
            <a:r>
              <a:rPr lang="en-US" sz="1000" dirty="0" err="1"/>
              <a:t>Bluestock</a:t>
            </a:r>
            <a:r>
              <a:rPr lang="en-US" sz="1000" dirty="0"/>
              <a:t> Fintech Data Analyst Internship Capstone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13759F-F41E-F419-32B1-1D41112CF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37958"/>
            <a:ext cx="3763108" cy="2468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5D12DD-A117-0F0A-E5B6-E34599B14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1188720"/>
            <a:ext cx="3931919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12471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Milestone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inflows hit ₹31,002 Cr in Dec 2025 — highest ever. Active SIP accounts crossed 10 Cr.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430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49240" y="112471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Explosion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 doubled from 13.26 Cr (Jan 2022) to 26.12 Cr (Dec 2025) — 97% growth in 3 years.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35915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Insight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 and small cap funds delivered highest alpha but also highest VaR. Liquid funds safest.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774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235915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Profile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investors under 30. T30 cities lead at 56% but B30 cities growing 19% YoY — future growth engine.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59359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Dominance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industry AUM among top 10 AMCs. ICICI and HDFC follow closely.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8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6118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59359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investors maintain regular SIP gaps under 35 days showing strong investment discipline.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055B3">
              <a:alpha val="50000"/>
            </a:srgbClr>
          </a:solidFill>
          <a:ln w="12700">
            <a:solidFill>
              <a:srgbClr val="005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— Mutual Fund Analytics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Manideep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github.com/Manideep685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703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703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763</Words>
  <Application>Microsoft Office PowerPoint</Application>
  <PresentationFormat>On-screen Show (16:9)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G. Manideep</dc:creator>
  <cp:lastModifiedBy>Gopishetti manideep</cp:lastModifiedBy>
  <cp:revision>2</cp:revision>
  <dcterms:created xsi:type="dcterms:W3CDTF">2026-06-11T07:15:31Z</dcterms:created>
  <dcterms:modified xsi:type="dcterms:W3CDTF">2026-06-11T07:44:17Z</dcterms:modified>
</cp:coreProperties>
</file>